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D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603504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 i="0" lang="en-US">
                <a:solidFill>
                  <a:srgbClr val="E8A33D"/>
                </a:solidFill>
                <a:latin typeface="Open Sans"/>
              </a:rPr>
              <a:t>The local retailer</a:t>
            </a:r>
            <a:r>
              <a:rPr sz="4000" b="0" i="0" lang="en-US">
                <a:solidFill>
                  <a:srgbClr val="FFFFFF"/>
                </a:solidFill>
                <a:latin typeface="Open Sans"/>
              </a:rPr>
              <a:t> doesn't lack products or customers.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603504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0" i="0" lang="en-US">
                <a:solidFill>
                  <a:srgbClr val="B3AA9D"/>
                </a:solidFill>
                <a:latin typeface="Open Sans"/>
              </a:rPr>
              <a:t>Going digital is not one task. It's a chain of disconnected tasks. </a:t>
            </a:r>
            <a:r>
              <a:rPr sz="1700" b="0" i="0" lang="en-US">
                <a:solidFill>
                  <a:srgbClr val="B3AA9D"/>
                </a:solidFill>
                <a:latin typeface="Open Sans"/>
              </a:rPr>
              <a:t>He has to learn and manage several separate systems.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4114800"/>
            <a:ext cx="310896" cy="310896"/>
          </a:xfrm>
          <a:prstGeom prst="ellipse">
            <a:avLst/>
          </a:prstGeom>
          <a:solidFill>
            <a:srgbClr val="242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 lang="en-US">
                <a:solidFill>
                  <a:srgbClr val="E8A33D"/>
                </a:solidFill>
                <a:latin typeface="Open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05656"/>
            <a:ext cx="49377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 lang="en-US">
                <a:solidFill>
                  <a:srgbClr val="FFFFFF"/>
                </a:solidFill>
                <a:latin typeface="Open Sans"/>
              </a:rPr>
              <a:t>Product photo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366259"/>
            <a:ext cx="18288" cy="210312"/>
          </a:xfrm>
          <a:prstGeom prst="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02920" y="4398264"/>
            <a:ext cx="310896" cy="310896"/>
          </a:xfrm>
          <a:prstGeom prst="ellipse">
            <a:avLst/>
          </a:prstGeom>
          <a:solidFill>
            <a:srgbClr val="242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 lang="en-US">
                <a:solidFill>
                  <a:srgbClr val="E8A33D"/>
                </a:solidFill>
                <a:latin typeface="Open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89120"/>
            <a:ext cx="49377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 lang="en-US">
                <a:solidFill>
                  <a:srgbClr val="FFFFFF"/>
                </a:solidFill>
                <a:latin typeface="Open Sans"/>
              </a:rPr>
              <a:t>Marketplace listing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649723"/>
            <a:ext cx="18288" cy="210312"/>
          </a:xfrm>
          <a:prstGeom prst="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02920" y="4681727"/>
            <a:ext cx="310896" cy="310896"/>
          </a:xfrm>
          <a:prstGeom prst="ellipse">
            <a:avLst/>
          </a:prstGeom>
          <a:solidFill>
            <a:srgbClr val="242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 lang="en-US">
                <a:solidFill>
                  <a:srgbClr val="E8A33D"/>
                </a:solidFill>
                <a:latin typeface="Open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72583"/>
            <a:ext cx="49377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 lang="en-US">
                <a:solidFill>
                  <a:srgbClr val="FFFFFF"/>
                </a:solidFill>
                <a:latin typeface="Open Sans"/>
              </a:rPr>
              <a:t>Multiple marketplaces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933187"/>
            <a:ext cx="18288" cy="210312"/>
          </a:xfrm>
          <a:prstGeom prst="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02920" y="4965191"/>
            <a:ext cx="310896" cy="310896"/>
          </a:xfrm>
          <a:prstGeom prst="ellipse">
            <a:avLst/>
          </a:prstGeom>
          <a:solidFill>
            <a:srgbClr val="242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 lang="en-US">
                <a:solidFill>
                  <a:srgbClr val="E8A33D"/>
                </a:solidFill>
                <a:latin typeface="Open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956047"/>
            <a:ext cx="49377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 lang="en-US">
                <a:solidFill>
                  <a:srgbClr val="FFFFFF"/>
                </a:solidFill>
                <a:latin typeface="Open Sans"/>
              </a:rPr>
              <a:t>Regional-language CRM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216651"/>
            <a:ext cx="18288" cy="210312"/>
          </a:xfrm>
          <a:prstGeom prst="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502920" y="5248655"/>
            <a:ext cx="310896" cy="310896"/>
          </a:xfrm>
          <a:prstGeom prst="ellipse">
            <a:avLst/>
          </a:prstGeom>
          <a:solidFill>
            <a:srgbClr val="242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 lang="en-US">
                <a:solidFill>
                  <a:srgbClr val="E8A33D"/>
                </a:solidFill>
                <a:latin typeface="Open San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239511"/>
            <a:ext cx="49377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 lang="en-US">
                <a:solidFill>
                  <a:srgbClr val="FFFFFF"/>
                </a:solidFill>
                <a:latin typeface="Open Sans"/>
              </a:rPr>
              <a:t>WhatsApp customer campaign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500115"/>
            <a:ext cx="18288" cy="210312"/>
          </a:xfrm>
          <a:prstGeom prst="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02920" y="5532119"/>
            <a:ext cx="310896" cy="310896"/>
          </a:xfrm>
          <a:prstGeom prst="ellipse">
            <a:avLst/>
          </a:prstGeom>
          <a:solidFill>
            <a:srgbClr val="242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 lang="en-US">
                <a:solidFill>
                  <a:srgbClr val="E8A33D"/>
                </a:solidFill>
                <a:latin typeface="Open San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522975"/>
            <a:ext cx="49377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 lang="en-US">
                <a:solidFill>
                  <a:srgbClr val="FFFFFF"/>
                </a:solidFill>
                <a:latin typeface="Open Sans"/>
              </a:rPr>
              <a:t>Payment link / QR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783579"/>
            <a:ext cx="18288" cy="210312"/>
          </a:xfrm>
          <a:prstGeom prst="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02920" y="5815583"/>
            <a:ext cx="310896" cy="310896"/>
          </a:xfrm>
          <a:prstGeom prst="ellipse">
            <a:avLst/>
          </a:prstGeom>
          <a:solidFill>
            <a:srgbClr val="242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 lang="en-US">
                <a:solidFill>
                  <a:srgbClr val="E8A33D"/>
                </a:solidFill>
                <a:latin typeface="Open San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806439"/>
            <a:ext cx="49377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 lang="en-US">
                <a:solidFill>
                  <a:srgbClr val="FFFFFF"/>
                </a:solidFill>
                <a:latin typeface="Open Sans"/>
              </a:rPr>
              <a:t>Growth scenario before spending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172200"/>
            <a:ext cx="60350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 i="0" lang="en-US">
                <a:solidFill>
                  <a:srgbClr val="F2C179"/>
                </a:solidFill>
                <a:latin typeface="Open Sans"/>
              </a:rPr>
              <a:t>One owner → the digital team of a big retailer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2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 lang="en-US">
                <a:solidFill>
                  <a:srgbClr val="E8A33D"/>
                </a:solidFill>
                <a:latin typeface="Open Sans"/>
              </a:rPr>
              <a:t>DUKAANQUEST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85800"/>
            <a:ext cx="100584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800" b="1" i="0" lang="en-US">
                <a:solidFill>
                  <a:srgbClr val="FFFFFF"/>
                </a:solidFill>
                <a:latin typeface="Open Sans"/>
              </a:rPr>
              <a:t>One guided workflow</a:t>
            </a:r>
            <a:r>
              <a:rPr sz="3800" b="1" i="0" lang="en-US">
                <a:solidFill>
                  <a:srgbClr val="FFFFFF"/>
                </a:solidFill>
                <a:latin typeface="Open Sans"/>
              </a:rPr>
              <a:t> from physical shop to digital growth.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48840"/>
            <a:ext cx="2926080" cy="5943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15568" y="2203704"/>
            <a:ext cx="2706624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 lang="en-US">
                <a:solidFill>
                  <a:srgbClr val="FFFFFF"/>
                </a:solidFill>
                <a:latin typeface="Open Sans"/>
              </a:rPr>
              <a:t>PRODUCTS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834640"/>
            <a:ext cx="2926080" cy="384048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005840" y="2834640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70432" y="2852928"/>
            <a:ext cx="2670048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 lang="en-US">
                <a:solidFill>
                  <a:srgbClr val="1D1A17"/>
                </a:solidFill>
                <a:latin typeface="Open Sans"/>
              </a:rPr>
              <a:t>AI product intelligence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337560"/>
            <a:ext cx="2926080" cy="384048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05840" y="3337560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70432" y="3355848"/>
            <a:ext cx="2670048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 lang="en-US">
                <a:solidFill>
                  <a:srgbClr val="1D1A17"/>
                </a:solidFill>
                <a:latin typeface="Open Sans"/>
              </a:rPr>
              <a:t>Master product record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840480"/>
            <a:ext cx="2926080" cy="384048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70432" y="3858768"/>
            <a:ext cx="2670048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 lang="en-US">
                <a:solidFill>
                  <a:srgbClr val="1D1A17"/>
                </a:solidFill>
                <a:latin typeface="Open Sans"/>
              </a:rPr>
              <a:t>Photo studio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2148840"/>
            <a:ext cx="2926080" cy="594360"/>
          </a:xfrm>
          <a:prstGeom prst="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61688" y="2203704"/>
            <a:ext cx="2706624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 lang="en-US">
                <a:solidFill>
                  <a:srgbClr val="FFFFFF"/>
                </a:solidFill>
                <a:latin typeface="Open Sans"/>
              </a:rPr>
              <a:t>CUSTOMERS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834640"/>
            <a:ext cx="2926080" cy="384048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251960" y="2834640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16552" y="2852928"/>
            <a:ext cx="2670048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 lang="en-US">
                <a:solidFill>
                  <a:srgbClr val="1D1A17"/>
                </a:solidFill>
                <a:latin typeface="Open Sans"/>
              </a:rPr>
              <a:t>Regional-language CRM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3337560"/>
            <a:ext cx="2926080" cy="384048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251960" y="3337560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416552" y="3355848"/>
            <a:ext cx="2670048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 lang="en-US">
                <a:solidFill>
                  <a:srgbClr val="1D1A17"/>
                </a:solidFill>
                <a:latin typeface="Open Sans"/>
              </a:rPr>
              <a:t>WhatsApp campaign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840480"/>
            <a:ext cx="2926080" cy="384048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251960" y="3840480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416552" y="3858768"/>
            <a:ext cx="2670048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 lang="en-US">
                <a:solidFill>
                  <a:srgbClr val="1D1A17"/>
                </a:solidFill>
                <a:latin typeface="Open Sans"/>
              </a:rPr>
              <a:t>Consent &amp; approval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0" y="2148840"/>
            <a:ext cx="2926080" cy="594360"/>
          </a:xfrm>
          <a:prstGeom prst="rect">
            <a:avLst/>
          </a:prstGeom>
          <a:solidFill>
            <a:srgbClr val="38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07808" y="2203704"/>
            <a:ext cx="2706624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 lang="en-US">
                <a:solidFill>
                  <a:srgbClr val="FFFFFF"/>
                </a:solidFill>
                <a:latin typeface="Open Sans"/>
              </a:rPr>
              <a:t>GROWTH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0" y="2834640"/>
            <a:ext cx="2926080" cy="384048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498080" y="2834640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662672" y="2852928"/>
            <a:ext cx="2670048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 lang="en-US">
                <a:solidFill>
                  <a:srgbClr val="1D1A17"/>
                </a:solidFill>
                <a:latin typeface="Open Sans"/>
              </a:rPr>
              <a:t>Marketplace listing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0" y="3337560"/>
            <a:ext cx="2926080" cy="384048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498080" y="3337560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662672" y="3355848"/>
            <a:ext cx="2670048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 lang="en-US">
                <a:solidFill>
                  <a:srgbClr val="1D1A17"/>
                </a:solidFill>
                <a:latin typeface="Open Sans"/>
              </a:rPr>
              <a:t>Decision simulator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0" y="3840480"/>
            <a:ext cx="2926080" cy="384048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498080" y="3840480"/>
            <a:ext cx="73152" cy="38404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62672" y="3858768"/>
            <a:ext cx="2670048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 lang="en-US">
                <a:solidFill>
                  <a:srgbClr val="1D1A17"/>
                </a:solidFill>
                <a:latin typeface="Open Sans"/>
              </a:rPr>
              <a:t>Quests &amp;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89204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 lang="en-US">
                <a:solidFill>
                  <a:srgbClr val="F2C179"/>
                </a:solidFill>
                <a:latin typeface="Open Sans"/>
              </a:rPr>
              <a:t>Create once  </a:t>
            </a:r>
            <a:r>
              <a:rPr sz="1400" b="0" i="0" lang="en-US">
                <a:solidFill>
                  <a:srgbClr val="FFFFFF"/>
                </a:solidFill>
                <a:latin typeface="Open Sans"/>
              </a:rPr>
              <a:t>→  Sell everywhere  </a:t>
            </a:r>
            <a:r>
              <a:rPr sz="1400" b="0" i="0" lang="en-US">
                <a:solidFill>
                  <a:srgbClr val="FFFFFF"/>
                </a:solidFill>
                <a:latin typeface="Open Sans"/>
              </a:rPr>
              <a:t>→  Retain  </a:t>
            </a:r>
            <a:r>
              <a:rPr sz="1400" b="0" i="0" lang="en-US">
                <a:solidFill>
                  <a:srgbClr val="FFFFFF"/>
                </a:solidFill>
                <a:latin typeface="Open Sans"/>
              </a:rPr>
              <a:t>→  Reach  </a:t>
            </a:r>
            <a:r>
              <a:rPr sz="1400" b="1" i="0" lang="en-US">
                <a:solidFill>
                  <a:srgbClr val="E8A33D"/>
                </a:solidFill>
                <a:latin typeface="Open Sans"/>
              </a:rPr>
              <a:t>→  Simulate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 lang="en-US">
                <a:solidFill>
                  <a:srgbClr val="E8A33D"/>
                </a:solidFill>
                <a:latin typeface="Open Sans"/>
              </a:rPr>
              <a:t>ONE PRODUCT. ONE WORKFLOW. MULTIPLE GROWTH CHANNELS.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 lang="en-US">
                <a:solidFill>
                  <a:srgbClr val="FFFFFF"/>
                </a:solidFill>
                <a:latin typeface="Open Sans"/>
              </a:rPr>
              <a:t>One product. One workflow. Multiple growth channels.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572768"/>
            <a:ext cx="8595360" cy="420624"/>
          </a:xfrm>
          <a:prstGeom prst="roundRect">
            <a:avLst/>
          </a:prstGeom>
          <a:solidFill>
            <a:srgbClr val="1D1A17"/>
          </a:solidFill>
          <a:ln w="15875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05029248000" y="1438139059200"/>
            <a:ext cx="7859597184000" cy="83612736000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874519" y="1682495"/>
            <a:ext cx="822960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 lang="en-US">
                <a:solidFill>
                  <a:srgbClr val="FFFFFF"/>
                </a:solidFill>
                <a:latin typeface="Open Sans"/>
              </a:rPr>
              <a:t>Phone photo</a:t>
            </a:r>
          </a:p>
          <a:p>
            <a:pPr algn="l"/>
            <a:r>
              <a:rPr sz="1100" b="1" i="0" lang="en-US">
                <a:solidFill>
                  <a:srgbClr val="E8A33D"/>
                </a:solidFill>
                <a:latin typeface="Open Sans"/>
              </a:rPr>
              <a:t>tech:</a:t>
            </a:r>
            <a:r>
              <a:rPr sz="1100" b="0" i="0" lang="en-US">
                <a:solidFill>
                  <a:srgbClr val="B3AA9D"/>
                </a:solidFill>
                <a:latin typeface="Open Sans"/>
              </a:rPr>
              <a:t> Input</a:t>
            </a:r>
          </a:p>
        </p:txBody>
      </p:sp>
      <p:sp>
        <p:nvSpPr>
          <p:cNvPr id="10" name="Chevron 9"/>
          <p:cNvSpPr/>
          <p:nvPr/>
        </p:nvSpPr>
        <p:spPr>
          <a:xfrm>
            <a:off x="5486400" y="2002536"/>
            <a:ext cx="822960" cy="54864"/>
          </a:xfrm>
          <a:prstGeom prst="chevron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20" y="2052828"/>
            <a:ext cx="8595360" cy="420624"/>
          </a:xfrm>
          <a:prstGeom prst="roundRect">
            <a:avLst/>
          </a:prstGeom>
          <a:solidFill>
            <a:srgbClr val="1D1A17"/>
          </a:solidFill>
          <a:ln w="15875">
            <a:solidFill>
              <a:srgbClr val="2C2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05029248000" y="1877105923200"/>
            <a:ext cx="7859597184000" cy="83612736000"/>
          </a:xfrm>
          <a:prstGeom prst="round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874519" y="2162556"/>
            <a:ext cx="822960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 lang="en-US">
                <a:solidFill>
                  <a:srgbClr val="FFFFFF"/>
                </a:solidFill>
                <a:latin typeface="Open Sans"/>
              </a:rPr>
              <a:t>Gemini understands</a:t>
            </a:r>
          </a:p>
          <a:p>
            <a:pPr algn="l"/>
            <a:r>
              <a:rPr sz="1100" b="1" i="0" lang="en-US">
                <a:solidFill>
                  <a:srgbClr val="2C2822"/>
                </a:solidFill>
                <a:latin typeface="Open Sans"/>
              </a:rPr>
              <a:t>tech:</a:t>
            </a:r>
            <a:r>
              <a:rPr sz="1100" b="0" i="0" lang="en-US">
                <a:solidFill>
                  <a:srgbClr val="B3AA9D"/>
                </a:solidFill>
                <a:latin typeface="Open Sans"/>
              </a:rPr>
              <a:t> AI</a:t>
            </a:r>
          </a:p>
        </p:txBody>
      </p:sp>
      <p:sp>
        <p:nvSpPr>
          <p:cNvPr id="14" name="Chevron 13"/>
          <p:cNvSpPr/>
          <p:nvPr/>
        </p:nvSpPr>
        <p:spPr>
          <a:xfrm>
            <a:off x="5486400" y="2482596"/>
            <a:ext cx="822960" cy="54864"/>
          </a:xfrm>
          <a:prstGeom prst="chevron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45920" y="2532888"/>
            <a:ext cx="8595360" cy="420624"/>
          </a:xfrm>
          <a:prstGeom prst="roundRect">
            <a:avLst/>
          </a:prstGeom>
          <a:solidFill>
            <a:srgbClr val="1D1A17"/>
          </a:solidFill>
          <a:ln w="15875">
            <a:solidFill>
              <a:srgbClr val="2C2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05029248000" y="2316072787200"/>
            <a:ext cx="7859597184000" cy="83612736000"/>
          </a:xfrm>
          <a:prstGeom prst="round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74519" y="2642616"/>
            <a:ext cx="822960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 lang="en-US">
                <a:solidFill>
                  <a:srgbClr val="FFFFFF"/>
                </a:solidFill>
                <a:latin typeface="Open Sans"/>
              </a:rPr>
              <a:t>Master product</a:t>
            </a:r>
          </a:p>
          <a:p>
            <a:pPr algn="l"/>
            <a:r>
              <a:rPr sz="1100" b="1" i="0" lang="en-US">
                <a:solidFill>
                  <a:srgbClr val="2C2822"/>
                </a:solidFill>
                <a:latin typeface="Open Sans"/>
              </a:rPr>
              <a:t>tech:</a:t>
            </a:r>
            <a:r>
              <a:rPr sz="1100" b="0" i="0" lang="en-US">
                <a:solidFill>
                  <a:srgbClr val="B3AA9D"/>
                </a:solidFill>
                <a:latin typeface="Open Sans"/>
              </a:rPr>
              <a:t> Single record</a:t>
            </a:r>
          </a:p>
        </p:txBody>
      </p:sp>
      <p:sp>
        <p:nvSpPr>
          <p:cNvPr id="18" name="Chevron 17"/>
          <p:cNvSpPr/>
          <p:nvPr/>
        </p:nvSpPr>
        <p:spPr>
          <a:xfrm>
            <a:off x="5486400" y="2962656"/>
            <a:ext cx="822960" cy="54864"/>
          </a:xfrm>
          <a:prstGeom prst="chevron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45920" y="3012948"/>
            <a:ext cx="8595360" cy="420624"/>
          </a:xfrm>
          <a:prstGeom prst="roundRect">
            <a:avLst/>
          </a:prstGeom>
          <a:solidFill>
            <a:srgbClr val="1D1A17"/>
          </a:solidFill>
          <a:ln w="15875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05029248000" y="2755039651200"/>
            <a:ext cx="7859597184000" cy="83612736000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874519" y="3122676"/>
            <a:ext cx="822960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 lang="en-US">
                <a:solidFill>
                  <a:srgbClr val="FFFFFF"/>
                </a:solidFill>
                <a:latin typeface="Open Sans"/>
              </a:rPr>
              <a:t>Marketplace-ready listing</a:t>
            </a:r>
          </a:p>
          <a:p>
            <a:pPr algn="l"/>
            <a:r>
              <a:rPr sz="1100" b="1" i="0" lang="en-US">
                <a:solidFill>
                  <a:srgbClr val="E8A33D"/>
                </a:solidFill>
                <a:latin typeface="Open Sans"/>
              </a:rPr>
              <a:t>tech:</a:t>
            </a:r>
            <a:r>
              <a:rPr sz="1100" b="0" i="0" lang="en-US">
                <a:solidFill>
                  <a:srgbClr val="B3AA9D"/>
                </a:solidFill>
                <a:latin typeface="Open Sans"/>
              </a:rPr>
              <a:t> Amazon SP-API Sandbox</a:t>
            </a:r>
          </a:p>
        </p:txBody>
      </p:sp>
      <p:sp>
        <p:nvSpPr>
          <p:cNvPr id="22" name="Chevron 21"/>
          <p:cNvSpPr/>
          <p:nvPr/>
        </p:nvSpPr>
        <p:spPr>
          <a:xfrm>
            <a:off x="5486400" y="3442715"/>
            <a:ext cx="822960" cy="54864"/>
          </a:xfrm>
          <a:prstGeom prst="chevron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645920" y="3493008"/>
            <a:ext cx="8595360" cy="420624"/>
          </a:xfrm>
          <a:prstGeom prst="roundRect">
            <a:avLst/>
          </a:prstGeom>
          <a:solidFill>
            <a:srgbClr val="1D1A17"/>
          </a:solidFill>
          <a:ln w="15875">
            <a:solidFill>
              <a:srgbClr val="2C2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505029248000" y="3194006515200"/>
            <a:ext cx="7859597184000" cy="83612736000"/>
          </a:xfrm>
          <a:prstGeom prst="round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874519" y="3602736"/>
            <a:ext cx="822960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 lang="en-US">
                <a:solidFill>
                  <a:srgbClr val="FFFFFF"/>
                </a:solidFill>
                <a:latin typeface="Open Sans"/>
              </a:rPr>
              <a:t>Customer segment</a:t>
            </a:r>
          </a:p>
          <a:p>
            <a:pPr algn="l"/>
            <a:r>
              <a:rPr sz="1100" b="1" i="0" lang="en-US">
                <a:solidFill>
                  <a:srgbClr val="2C2822"/>
                </a:solidFill>
                <a:latin typeface="Open Sans"/>
              </a:rPr>
              <a:t>tech:</a:t>
            </a:r>
            <a:r>
              <a:rPr sz="1100" b="0" i="0" lang="en-US">
                <a:solidFill>
                  <a:srgbClr val="B3AA9D"/>
                </a:solidFill>
                <a:latin typeface="Open Sans"/>
              </a:rPr>
              <a:t> Regional record</a:t>
            </a:r>
          </a:p>
        </p:txBody>
      </p:sp>
      <p:sp>
        <p:nvSpPr>
          <p:cNvPr id="26" name="Chevron 25"/>
          <p:cNvSpPr/>
          <p:nvPr/>
        </p:nvSpPr>
        <p:spPr>
          <a:xfrm>
            <a:off x="5486400" y="3922776"/>
            <a:ext cx="822960" cy="54864"/>
          </a:xfrm>
          <a:prstGeom prst="chevron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645920" y="3973068"/>
            <a:ext cx="8595360" cy="420624"/>
          </a:xfrm>
          <a:prstGeom prst="roundRect">
            <a:avLst/>
          </a:prstGeom>
          <a:solidFill>
            <a:srgbClr val="1D1A17"/>
          </a:solidFill>
          <a:ln w="15875">
            <a:solidFill>
              <a:srgbClr val="2C2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505029248000" y="3632973379200"/>
            <a:ext cx="7859597184000" cy="83612736000"/>
          </a:xfrm>
          <a:prstGeom prst="round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874519" y="4082796"/>
            <a:ext cx="822960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 lang="en-US">
                <a:solidFill>
                  <a:srgbClr val="FFFFFF"/>
                </a:solidFill>
                <a:latin typeface="Open Sans"/>
              </a:rPr>
              <a:t>Regional campaign</a:t>
            </a:r>
          </a:p>
          <a:p>
            <a:pPr algn="l"/>
            <a:r>
              <a:rPr sz="1100" b="1" i="0" lang="en-US">
                <a:solidFill>
                  <a:srgbClr val="2C2822"/>
                </a:solidFill>
                <a:latin typeface="Open Sans"/>
              </a:rPr>
              <a:t>tech:</a:t>
            </a:r>
            <a:r>
              <a:rPr sz="1100" b="0" i="0" lang="en-US">
                <a:solidFill>
                  <a:srgbClr val="B3AA9D"/>
                </a:solidFill>
                <a:latin typeface="Open Sans"/>
              </a:rPr>
              <a:t> Sarvam + n8n</a:t>
            </a:r>
          </a:p>
        </p:txBody>
      </p:sp>
      <p:sp>
        <p:nvSpPr>
          <p:cNvPr id="30" name="Chevron 29"/>
          <p:cNvSpPr/>
          <p:nvPr/>
        </p:nvSpPr>
        <p:spPr>
          <a:xfrm>
            <a:off x="5486400" y="4402836"/>
            <a:ext cx="822960" cy="54864"/>
          </a:xfrm>
          <a:prstGeom prst="chevron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645920" y="4453128"/>
            <a:ext cx="8595360" cy="420624"/>
          </a:xfrm>
          <a:prstGeom prst="roundRect">
            <a:avLst/>
          </a:prstGeom>
          <a:solidFill>
            <a:srgbClr val="1D1A17"/>
          </a:solidFill>
          <a:ln w="15875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505029248000" y="4071940243200"/>
            <a:ext cx="7859597184000" cy="83612736000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874519" y="4562856"/>
            <a:ext cx="822960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 lang="en-US">
                <a:solidFill>
                  <a:srgbClr val="FFFFFF"/>
                </a:solidFill>
                <a:latin typeface="Open Sans"/>
              </a:rPr>
              <a:t>WhatsApp send</a:t>
            </a:r>
          </a:p>
          <a:p>
            <a:pPr algn="l"/>
            <a:r>
              <a:rPr sz="1100" b="1" i="0" lang="en-US">
                <a:solidFill>
                  <a:srgbClr val="E8A33D"/>
                </a:solidFill>
                <a:latin typeface="Open Sans"/>
              </a:rPr>
              <a:t>tech:</a:t>
            </a:r>
            <a:r>
              <a:rPr sz="1100" b="0" i="0" lang="en-US">
                <a:solidFill>
                  <a:srgbClr val="B3AA9D"/>
                </a:solidFill>
                <a:latin typeface="Open Sans"/>
              </a:rPr>
              <a:t> Consent gate</a:t>
            </a:r>
          </a:p>
        </p:txBody>
      </p:sp>
      <p:sp>
        <p:nvSpPr>
          <p:cNvPr id="34" name="Chevron 33"/>
          <p:cNvSpPr/>
          <p:nvPr/>
        </p:nvSpPr>
        <p:spPr>
          <a:xfrm>
            <a:off x="5486400" y="4882896"/>
            <a:ext cx="822960" cy="54864"/>
          </a:xfrm>
          <a:prstGeom prst="chevron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645920" y="4933188"/>
            <a:ext cx="8595360" cy="420624"/>
          </a:xfrm>
          <a:prstGeom prst="roundRect">
            <a:avLst/>
          </a:prstGeom>
          <a:solidFill>
            <a:srgbClr val="1D1A17"/>
          </a:solidFill>
          <a:ln w="15875">
            <a:solidFill>
              <a:srgbClr val="2C2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05029248000" y="4510907107200"/>
            <a:ext cx="7859597184000" cy="83612736000"/>
          </a:xfrm>
          <a:prstGeom prst="round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874519" y="5042916"/>
            <a:ext cx="822960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 lang="en-US">
                <a:solidFill>
                  <a:srgbClr val="FFFFFF"/>
                </a:solidFill>
                <a:latin typeface="Open Sans"/>
              </a:rPr>
              <a:t>What-if simulation</a:t>
            </a:r>
          </a:p>
          <a:p>
            <a:pPr algn="l"/>
            <a:r>
              <a:rPr sz="1100" b="1" i="0" lang="en-US">
                <a:solidFill>
                  <a:srgbClr val="2C2822"/>
                </a:solidFill>
                <a:latin typeface="Open Sans"/>
              </a:rPr>
              <a:t>tech:</a:t>
            </a:r>
            <a:r>
              <a:rPr sz="1100" b="0" i="0" lang="en-US">
                <a:solidFill>
                  <a:srgbClr val="B3AA9D"/>
                </a:solidFill>
                <a:latin typeface="Open Sans"/>
              </a:rPr>
              <a:t> Deterministic math</a:t>
            </a:r>
          </a:p>
        </p:txBody>
      </p:sp>
      <p:sp>
        <p:nvSpPr>
          <p:cNvPr id="38" name="Chevron 37"/>
          <p:cNvSpPr/>
          <p:nvPr/>
        </p:nvSpPr>
        <p:spPr>
          <a:xfrm>
            <a:off x="5486400" y="5362956"/>
            <a:ext cx="822960" cy="54864"/>
          </a:xfrm>
          <a:prstGeom prst="chevron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645920" y="5413248"/>
            <a:ext cx="8595360" cy="420624"/>
          </a:xfrm>
          <a:prstGeom prst="roundRect">
            <a:avLst/>
          </a:prstGeom>
          <a:solidFill>
            <a:srgbClr val="1D1A17"/>
          </a:solidFill>
          <a:ln w="15875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05029248000" y="4949873971200"/>
            <a:ext cx="7859597184000" cy="83612736000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874519" y="5522976"/>
            <a:ext cx="8229600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 lang="en-US">
                <a:solidFill>
                  <a:srgbClr val="FFFFFF"/>
                </a:solidFill>
                <a:latin typeface="Open Sans"/>
              </a:rPr>
              <a:t>Merchant decision</a:t>
            </a:r>
          </a:p>
          <a:p>
            <a:pPr algn="l"/>
            <a:r>
              <a:rPr sz="1100" b="1" i="0" lang="en-US">
                <a:solidFill>
                  <a:srgbClr val="E8A33D"/>
                </a:solidFill>
                <a:latin typeface="Open Sans"/>
              </a:rPr>
              <a:t>tech:</a:t>
            </a:r>
            <a:r>
              <a:rPr sz="1100" b="0" i="0" lang="en-US">
                <a:solidFill>
                  <a:srgbClr val="B3AA9D"/>
                </a:solidFill>
                <a:latin typeface="Open Sans"/>
              </a:rPr>
              <a:t> Next 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989320"/>
            <a:ext cx="1005840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 i="0" lang="en-US">
                <a:solidFill>
                  <a:srgbClr val="F2C179"/>
                </a:solidFill>
                <a:latin typeface="Open Sans"/>
              </a:rPr>
              <a:t>Every stage is a real, working or verified sandbox workflow in the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7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 lang="en-US">
                <a:solidFill>
                  <a:srgbClr val="E8A33D"/>
                </a:solidFill>
                <a:latin typeface="Open Sans"/>
              </a:rPr>
              <a:t>THE GAME IS NOT DECORATION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 lang="en-US">
                <a:solidFill>
                  <a:srgbClr val="FFFFFF"/>
                </a:solidFill>
                <a:latin typeface="Open Sans"/>
              </a:rPr>
              <a:t>The game makes digital growth understandable.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1676416000" y="1463222880000"/>
            <a:ext cx="4765925952000" cy="2591994816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1676416000" y="1463222880000"/>
            <a:ext cx="4765925952000" cy="501676416000"/>
          </a:xfrm>
          <a:prstGeom prst="rect">
            <a:avLst/>
          </a:prstGeom>
          <a:solidFill>
            <a:srgbClr val="38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636776"/>
            <a:ext cx="48463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 i="0" lang="en-US">
                <a:solidFill>
                  <a:srgbClr val="FFFFFF"/>
                </a:solidFill>
                <a:latin typeface="Open Sans"/>
              </a:rPr>
              <a:t>Traditional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179340800" y="2132124768000"/>
            <a:ext cx="100335283200" cy="217393113600"/>
          </a:xfrm>
          <a:prstGeom prst="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340863"/>
            <a:ext cx="4663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 lang="en-US">
                <a:solidFill>
                  <a:srgbClr val="B3AA9D"/>
                </a:solidFill>
                <a:latin typeface="Open Sans"/>
              </a:rPr>
              <a:t>Learn each marketplace tool separately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2179340800" y="2483298259200"/>
            <a:ext cx="100335283200" cy="217393113600"/>
          </a:xfrm>
          <a:prstGeom prst="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2724911"/>
            <a:ext cx="4663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 lang="en-US">
                <a:solidFill>
                  <a:srgbClr val="B3AA9D"/>
                </a:solidFill>
                <a:latin typeface="Open Sans"/>
              </a:rPr>
              <a:t>Photoshop / shoots, then copy-paste fields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179340800" y="2834470836000"/>
            <a:ext cx="100335283200" cy="217393113600"/>
          </a:xfrm>
          <a:prstGeom prst="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108959"/>
            <a:ext cx="4663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 lang="en-US">
                <a:solidFill>
                  <a:srgbClr val="B3AA9D"/>
                </a:solidFill>
                <a:latin typeface="Open Sans"/>
              </a:rPr>
              <a:t>Type in every listing by hand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2179340800" y="3185644327200"/>
            <a:ext cx="100335283200" cy="217393113600"/>
          </a:xfrm>
          <a:prstGeom prst="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3493007"/>
            <a:ext cx="4663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 lang="en-US">
                <a:solidFill>
                  <a:srgbClr val="B3AA9D"/>
                </a:solidFill>
                <a:latin typeface="Open Sans"/>
              </a:rPr>
              <a:t>Send WhatsApp by hand, one customer at a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2179340800" y="3536817818400"/>
            <a:ext cx="100335283200" cy="217393113600"/>
          </a:xfrm>
          <a:prstGeom prst="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877055"/>
            <a:ext cx="4663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 lang="en-US">
                <a:solidFill>
                  <a:srgbClr val="B3AA9D"/>
                </a:solidFill>
                <a:latin typeface="Open Sans"/>
              </a:rPr>
              <a:t>Run the next numbers in a spreadsheet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36504256000" y="1463222880000"/>
            <a:ext cx="4765925952000" cy="2591994816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936504256000" y="1463222880000"/>
            <a:ext cx="4765925952000" cy="501676416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75120" y="1636776"/>
            <a:ext cx="48463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500" b="1" i="0" lang="en-US">
                <a:solidFill>
                  <a:srgbClr val="1D1A17"/>
                </a:solidFill>
                <a:latin typeface="Open Sans"/>
              </a:rPr>
              <a:t>DukaanQuest guided journey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7006266400" y="2132124768000"/>
            <a:ext cx="100335283200" cy="2173931136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903720" y="2340863"/>
            <a:ext cx="4663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 lang="en-US">
                <a:solidFill>
                  <a:srgbClr val="1D1A17"/>
                </a:solidFill>
                <a:latin typeface="Open Sans"/>
              </a:rPr>
              <a:t>One guided journey, not six separate logins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7006266400" y="2483298259200"/>
            <a:ext cx="100335283200" cy="2173931136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903720" y="2724911"/>
            <a:ext cx="4663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 lang="en-US">
                <a:solidFill>
                  <a:srgbClr val="1D1A17"/>
                </a:solidFill>
                <a:latin typeface="Open Sans"/>
              </a:rPr>
              <a:t>AI reads the product, writes the listing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7006266400" y="2834470836000"/>
            <a:ext cx="100335283200" cy="2173931136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903720" y="3108959"/>
            <a:ext cx="4663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 lang="en-US">
                <a:solidFill>
                  <a:srgbClr val="1D1A17"/>
                </a:solidFill>
                <a:latin typeface="Open Sans"/>
              </a:rPr>
              <a:t>One master record sent to every marketplace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7006266400" y="3185644327200"/>
            <a:ext cx="100335283200" cy="2173931136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903720" y="3493007"/>
            <a:ext cx="4663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 lang="en-US">
                <a:solidFill>
                  <a:srgbClr val="1D1A17"/>
                </a:solidFill>
                <a:latin typeface="Open Sans"/>
              </a:rPr>
              <a:t>Segment, translate, approve, dispatch in one 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7006266400" y="3536817818400"/>
            <a:ext cx="100335283200" cy="2173931136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903720" y="3877055"/>
            <a:ext cx="4663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 lang="en-US">
                <a:solidFill>
                  <a:srgbClr val="1D1A17"/>
                </a:solidFill>
                <a:latin typeface="Open Sans"/>
              </a:rPr>
              <a:t>Simulate the profit before you spend a rupee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7006266400" y="3887992224000"/>
            <a:ext cx="100335283200" cy="2173931136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903720" y="4261104"/>
            <a:ext cx="46634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 lang="en-US">
                <a:solidFill>
                  <a:srgbClr val="1D1A17"/>
                </a:solidFill>
                <a:latin typeface="Open Sans"/>
              </a:rPr>
              <a:t>Visible progress and XP — your digital team in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617720"/>
            <a:ext cx="104241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 lang="en-US">
                <a:solidFill>
                  <a:srgbClr val="F2C179"/>
                </a:solidFill>
                <a:latin typeface="Open Sans"/>
              </a:rPr>
              <a:t>The quest system is a visual learning &amp; progression layer for a non-technical merchant.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9870048000" y="5142183264000"/>
            <a:ext cx="6856243437600" cy="710708256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85800" y="5687568"/>
            <a:ext cx="722376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 i="0" lang="en-US">
                <a:solidFill>
                  <a:srgbClr val="FFFFFF"/>
                </a:solidFill>
                <a:latin typeface="Open Sans"/>
              </a:rPr>
              <a:t>Photo → List once → Reach customers → Simulate → Grow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 lang="en-US">
                <a:solidFill>
                  <a:srgbClr val="E8A33D"/>
                </a:solidFill>
                <a:latin typeface="Open Sans"/>
              </a:rPr>
              <a:t>TECH STACK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 i="0" lang="en-US">
                <a:solidFill>
                  <a:srgbClr val="FFFFFF"/>
                </a:solidFill>
                <a:latin typeface="Open Sans"/>
              </a:rPr>
              <a:t>Verified integrations, each solving one merchant problem.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1676416000" y="1295997408000"/>
            <a:ext cx="9782690112000" cy="710708256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1676416000" y="1295997408000"/>
            <a:ext cx="66890188800" cy="710708256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490472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 i="0" lang="en-US">
                <a:solidFill>
                  <a:srgbClr val="E8A33D"/>
                </a:solidFill>
                <a:latin typeface="Open San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7772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 lang="en-US">
                <a:solidFill>
                  <a:srgbClr val="B3AA9D"/>
                </a:solidFill>
                <a:latin typeface="Open Sans"/>
              </a:rPr>
              <a:t>React · Vite · HTML5 Canvas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60719" y="2139696"/>
            <a:ext cx="274320" cy="228600"/>
          </a:xfrm>
          <a:prstGeom prst="down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1676416000" y="2257543872000"/>
            <a:ext cx="9782690112000" cy="710708256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01676416000" y="2257543872000"/>
            <a:ext cx="66890188800" cy="710708256000"/>
          </a:xfrm>
          <a:prstGeom prst="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542032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 i="0" lang="en-US">
                <a:solidFill>
                  <a:srgbClr val="E8A33D"/>
                </a:solidFill>
                <a:latin typeface="Open Sans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34640"/>
            <a:ext cx="7772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 lang="en-US">
                <a:solidFill>
                  <a:srgbClr val="B3AA9D"/>
                </a:solidFill>
                <a:latin typeface="Open Sans"/>
              </a:rPr>
              <a:t>Node.js · Express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760719" y="3191256"/>
            <a:ext cx="274320" cy="228600"/>
          </a:xfrm>
          <a:prstGeom prst="downArrow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1676416000" y="3219090336000"/>
            <a:ext cx="9782690112000" cy="710708256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01676416000" y="3219090336000"/>
            <a:ext cx="66890188800" cy="710708256000"/>
          </a:xfrm>
          <a:prstGeom prst="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3593592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 i="0" lang="en-US">
                <a:solidFill>
                  <a:srgbClr val="E8A33D"/>
                </a:solidFill>
                <a:latin typeface="Open Sans"/>
              </a:rPr>
              <a:t>ORCHESTRATION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7772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 lang="en-US">
                <a:solidFill>
                  <a:srgbClr val="B3AA9D"/>
                </a:solidFill>
                <a:latin typeface="Open Sans"/>
              </a:rPr>
              <a:t>Gemini · Sarvam · n8n · Amazon SP-API · Paytm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760719" y="4242816"/>
            <a:ext cx="274320" cy="228600"/>
          </a:xfrm>
          <a:prstGeom prst="downArrow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1676416000" y="4180636800000"/>
            <a:ext cx="9782690112000" cy="710708256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01676416000" y="4180636800000"/>
            <a:ext cx="66890188800" cy="710708256000"/>
          </a:xfrm>
          <a:prstGeom prst="rect">
            <a:avLst/>
          </a:prstGeom>
          <a:solidFill>
            <a:srgbClr val="38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4645152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 i="0" lang="en-US">
                <a:solidFill>
                  <a:srgbClr val="E8A33D"/>
                </a:solidFill>
                <a:latin typeface="Open Sans"/>
              </a:rPr>
              <a:t>LOCAL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37760"/>
            <a:ext cx="7772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 lang="en-US">
                <a:solidFill>
                  <a:srgbClr val="B3AA9D"/>
                </a:solidFill>
                <a:latin typeface="Open Sans"/>
              </a:rPr>
              <a:t>Marketplace adapters · deterministic simulator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1676416000" y="4556894112000"/>
            <a:ext cx="3093671232000" cy="710708256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01676416000" y="4556894112000"/>
            <a:ext cx="3093671232000" cy="501676416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1520" y="5111496"/>
            <a:ext cx="31089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 lang="en-US">
                <a:solidFill>
                  <a:srgbClr val="FFFFFF"/>
                </a:solidFill>
                <a:latin typeface="Open Sans"/>
              </a:rPr>
              <a:t>Master product &amp; customer data</a:t>
            </a:r>
          </a:p>
          <a:p>
            <a:pPr algn="l"/>
            <a:r>
              <a:rPr sz="1000" b="0" i="0" lang="en-US">
                <a:solidFill>
                  <a:srgbClr val="B3AA9D"/>
                </a:solidFill>
                <a:latin typeface="Open Sans"/>
              </a:rPr>
              <a:t>read → transform → campaign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04379488000" y="4556894112000"/>
            <a:ext cx="3093671232000" cy="710708256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804379488000" y="4556894112000"/>
            <a:ext cx="3093671232000" cy="501676416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343400" y="5111496"/>
            <a:ext cx="31089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 lang="en-US">
                <a:solidFill>
                  <a:srgbClr val="FFFFFF"/>
                </a:solidFill>
                <a:latin typeface="Open Sans"/>
              </a:rPr>
              <a:t>AI &amp; rules engines</a:t>
            </a:r>
          </a:p>
          <a:p>
            <a:pPr algn="l"/>
            <a:r>
              <a:rPr sz="1000" b="0" i="0" lang="en-US">
                <a:solidFill>
                  <a:srgbClr val="B3AA9D"/>
                </a:solidFill>
                <a:latin typeface="Open Sans"/>
              </a:rPr>
              <a:t>Gemini reads · Sarvam translates · rules score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07082560000" y="4556894112000"/>
            <a:ext cx="3093671232000" cy="710708256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107082560000" y="4556894112000"/>
            <a:ext cx="3093671232000" cy="501676416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955279" y="5111496"/>
            <a:ext cx="31089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 lang="en-US">
                <a:solidFill>
                  <a:srgbClr val="FFFFFF"/>
                </a:solidFill>
                <a:latin typeface="Open Sans"/>
              </a:rPr>
              <a:t>Marketplace / CRM / sim outputs</a:t>
            </a:r>
          </a:p>
          <a:p>
            <a:pPr algn="l"/>
            <a:r>
              <a:rPr sz="1000" b="0" i="0" lang="en-US">
                <a:solidFill>
                  <a:srgbClr val="B3AA9D"/>
                </a:solidFill>
                <a:latin typeface="Open Sans"/>
              </a:rPr>
              <a:t>listing · campaign · scenario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870048000" y="5393021472000"/>
            <a:ext cx="3846185856000" cy="668901888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94360" y="6062472"/>
            <a:ext cx="402336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0" i="0" lang="en-US">
                <a:solidFill>
                  <a:srgbClr val="B3AA9D"/>
                </a:solidFill>
                <a:latin typeface="Open Sans"/>
              </a:rPr>
              <a:t>LIVE / SANDBOX / STAGED / FALLBACK shown on every integration card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 lang="en-US">
                <a:solidFill>
                  <a:srgbClr val="E8A33D"/>
                </a:solidFill>
                <a:latin typeface="Open Sans"/>
              </a:rPr>
              <a:t>DATA FLOW — WHAT HAPPENS TO A REAL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 lang="en-US">
                <a:solidFill>
                  <a:srgbClr val="FFFFFF"/>
                </a:solidFill>
                <a:latin typeface="Open Sans"/>
              </a:rPr>
              <a:t>User input  →  orchestrator  →  AI + rules engines  →  merchant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463040"/>
            <a:ext cx="3017520" cy="914400"/>
          </a:xfrm>
          <a:prstGeom prst="roundRect">
            <a:avLst/>
          </a:prstGeom>
          <a:solidFill>
            <a:srgbClr val="171412"/>
          </a:solidFill>
          <a:ln w="15875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536192"/>
            <a:ext cx="2743200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 i="0" lang="en-US">
                <a:solidFill>
                  <a:srgbClr val="E8A33D"/>
                </a:solidFill>
                <a:latin typeface="Open Sans"/>
              </a:rPr>
              <a:t>Merchant</a:t>
            </a:r>
          </a:p>
          <a:p>
            <a:pPr algn="l"/>
            <a:r>
              <a:rPr sz="1050" b="0" i="0" lang="en-US">
                <a:solidFill>
                  <a:srgbClr val="B3AA9D"/>
                </a:solidFill>
                <a:latin typeface="Open Sans"/>
              </a:rPr>
              <a:t>product + customer inputs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17720" y="1737360"/>
            <a:ext cx="36576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74920" y="1463040"/>
            <a:ext cx="3017520" cy="914400"/>
          </a:xfrm>
          <a:prstGeom prst="roundRect">
            <a:avLst/>
          </a:prstGeom>
          <a:solidFill>
            <a:srgbClr val="171412"/>
          </a:solidFill>
          <a:ln w="15875">
            <a:solidFill>
              <a:srgbClr val="2C2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536192"/>
            <a:ext cx="2743200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 i="0" lang="en-US">
                <a:solidFill>
                  <a:srgbClr val="2C2822"/>
                </a:solidFill>
                <a:latin typeface="Open Sans"/>
              </a:rPr>
              <a:t>Backend orchestrator</a:t>
            </a:r>
          </a:p>
          <a:p>
            <a:pPr algn="l"/>
            <a:r>
              <a:rPr sz="1050" b="0" i="0" lang="en-US">
                <a:solidFill>
                  <a:srgbClr val="B3AA9D"/>
                </a:solidFill>
                <a:latin typeface="Open Sans"/>
              </a:rPr>
              <a:t>API + rules engine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229600" y="1737360"/>
            <a:ext cx="365760" cy="274320"/>
          </a:xfrm>
          <a:prstGeom prst="rightArrow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3017520" cy="914400"/>
          </a:xfrm>
          <a:prstGeom prst="roundRect">
            <a:avLst/>
          </a:prstGeom>
          <a:solidFill>
            <a:srgbClr val="171412"/>
          </a:solidFill>
          <a:ln w="15875">
            <a:solidFill>
              <a:srgbClr val="383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1536192"/>
            <a:ext cx="2743200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 i="0" lang="en-US">
                <a:solidFill>
                  <a:srgbClr val="38332B"/>
                </a:solidFill>
                <a:latin typeface="Open Sans"/>
              </a:rPr>
              <a:t>AI + rules engines</a:t>
            </a:r>
          </a:p>
          <a:p>
            <a:pPr algn="l"/>
            <a:r>
              <a:rPr sz="1050" b="0" i="0" lang="en-US">
                <a:solidFill>
                  <a:srgbClr val="B3AA9D"/>
                </a:solidFill>
                <a:latin typeface="Open Sans"/>
              </a:rPr>
              <a:t>Gemini · Sarvam · ads/billing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63240"/>
            <a:ext cx="2926080" cy="1371600"/>
          </a:xfrm>
          <a:prstGeom prst="roundRect">
            <a:avLst/>
          </a:prstGeom>
          <a:solidFill>
            <a:srgbClr val="1D1A17"/>
          </a:solidFill>
          <a:ln w="15875">
            <a:solidFill>
              <a:srgbClr val="2C2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36392"/>
            <a:ext cx="2651760" cy="12252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 i="0" lang="en-US">
                <a:solidFill>
                  <a:srgbClr val="2C2822"/>
                </a:solidFill>
                <a:latin typeface="Open Sans"/>
              </a:rPr>
              <a:t>Marketplace engine</a:t>
            </a:r>
          </a:p>
          <a:p>
            <a:pPr algn="l"/>
            <a:r>
              <a:rPr sz="1050" b="0" i="0" lang="en-US">
                <a:solidFill>
                  <a:srgbClr val="B3AA9D"/>
                </a:solidFill>
                <a:latin typeface="Open Sans"/>
              </a:rPr>
              <a:t>Readiness → listing → sandbox
Amazon SP-API · Flipkart · Meesho · Myntra · Nykaa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49039" y="3749039"/>
            <a:ext cx="365760" cy="274320"/>
          </a:xfrm>
          <a:prstGeom prst="rightArrow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60520" y="3063240"/>
            <a:ext cx="2926080" cy="1371600"/>
          </a:xfrm>
          <a:prstGeom prst="roundRect">
            <a:avLst/>
          </a:prstGeom>
          <a:solidFill>
            <a:srgbClr val="1D1A17"/>
          </a:solidFill>
          <a:ln w="15875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136392"/>
            <a:ext cx="2651760" cy="12252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 i="0" lang="en-US">
                <a:solidFill>
                  <a:srgbClr val="E8A33D"/>
                </a:solidFill>
                <a:latin typeface="Open Sans"/>
              </a:rPr>
              <a:t>CRM engine</a:t>
            </a:r>
          </a:p>
          <a:p>
            <a:pPr algn="l"/>
            <a:r>
              <a:rPr sz="1050" b="0" i="0" lang="en-US">
                <a:solidFill>
                  <a:srgbClr val="B3AA9D"/>
                </a:solidFill>
                <a:latin typeface="Open Sans"/>
              </a:rPr>
              <a:t>Segment → translate → approve → dispatch
n8n · Meta WhatsApp Cloud API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315200" y="3749039"/>
            <a:ext cx="36576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80960" y="3063240"/>
            <a:ext cx="2926080" cy="1371600"/>
          </a:xfrm>
          <a:prstGeom prst="roundRect">
            <a:avLst/>
          </a:prstGeom>
          <a:solidFill>
            <a:srgbClr val="1D1A17"/>
          </a:solidFill>
          <a:ln w="15875">
            <a:solidFill>
              <a:srgbClr val="383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136392"/>
            <a:ext cx="2651760" cy="12252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 i="0" lang="en-US">
                <a:solidFill>
                  <a:srgbClr val="38332B"/>
                </a:solidFill>
                <a:latin typeface="Open Sans"/>
              </a:rPr>
              <a:t>Simulation engine</a:t>
            </a:r>
          </a:p>
          <a:p>
            <a:pPr algn="l"/>
            <a:r>
              <a:rPr sz="1050" b="0" i="0" lang="en-US">
                <a:solidFill>
                  <a:srgbClr val="B3AA9D"/>
                </a:solidFill>
                <a:latin typeface="Open Sans"/>
              </a:rPr>
              <a:t>Scenario profit &amp; payback
deterministic rules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011680" y="4572000"/>
            <a:ext cx="36576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5120640" y="4572000"/>
            <a:ext cx="36576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8229600" y="4572000"/>
            <a:ext cx="36576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4892040"/>
            <a:ext cx="10881360" cy="1188720"/>
          </a:xfrm>
          <a:prstGeom prst="roundRect">
            <a:avLst/>
          </a:prstGeom>
          <a:solidFill>
            <a:srgbClr val="12100E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65192"/>
            <a:ext cx="10607040" cy="10424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1" i="0" lang="en-US">
                <a:solidFill>
                  <a:srgbClr val="FFFFFF"/>
                </a:solidFill>
                <a:latin typeface="Open Sans"/>
              </a:rPr>
              <a:t>Merchant decision → business progress</a:t>
            </a:r>
          </a:p>
          <a:p>
            <a:pPr algn="l"/>
            <a:r>
              <a:rPr sz="1050" b="0" i="0" lang="en-US">
                <a:solidFill>
                  <a:srgbClr val="B3AA9D"/>
                </a:solidFill>
                <a:latin typeface="Open Sans"/>
              </a:rPr>
              <a:t>One guided journey: digital town, quests, XP  |  live controls, verified sandbox + staged fallbacks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 lang="en-US">
                <a:solidFill>
                  <a:srgbClr val="E8A33D"/>
                </a:solidFill>
                <a:latin typeface="Open Sans"/>
              </a:rPr>
              <a:t>THE WORKING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 i="0" lang="en-US">
                <a:solidFill>
                  <a:srgbClr val="FFFFFF"/>
                </a:solidFill>
                <a:latin typeface="Open Sans"/>
              </a:rPr>
              <a:t>This is the actual product, not a mock.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9870048000" y="1295997408000"/>
            <a:ext cx="3093671232000" cy="1839480192000"/>
          </a:xfrm>
          <a:prstGeom prst="rect">
            <a:avLst/>
          </a:prstGeom>
          <a:solidFill>
            <a:srgbClr val="171412"/>
          </a:solidFill>
          <a:ln w="12700">
            <a:solidFill>
              <a:srgbClr val="2C2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mage7.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81328"/>
            <a:ext cx="3200400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2880360"/>
            <a:ext cx="3200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 lang="en-US">
                <a:solidFill>
                  <a:srgbClr val="E8A33D"/>
                </a:solidFill>
                <a:latin typeface="Open Sans"/>
              </a:rPr>
              <a:t>Digital Town</a:t>
            </a:r>
          </a:p>
          <a:p>
            <a:pPr algn="l"/>
            <a:r>
              <a:rPr sz="1000" b="0" i="0" lang="en-US">
                <a:solidFill>
                  <a:srgbClr val="B3AA9D"/>
                </a:solidFill>
                <a:latin typeface="Open Sans"/>
              </a:rPr>
              <a:t>isometric shop + quest progress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6185856000" y="1295997408000"/>
            <a:ext cx="3093671232000" cy="1839480192000"/>
          </a:xfrm>
          <a:prstGeom prst="rect">
            <a:avLst/>
          </a:prstGeom>
          <a:solidFill>
            <a:srgbClr val="171412"/>
          </a:solidFill>
          <a:ln w="12700">
            <a:solidFill>
              <a:srgbClr val="2C2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image10.p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9" y="1481328"/>
            <a:ext cx="3200400" cy="1325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79" y="2880360"/>
            <a:ext cx="3200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 lang="en-US">
                <a:solidFill>
                  <a:srgbClr val="E8A33D"/>
                </a:solidFill>
                <a:latin typeface="Open Sans"/>
              </a:rPr>
              <a:t>AI Studio</a:t>
            </a:r>
          </a:p>
          <a:p>
            <a:pPr algn="l"/>
            <a:r>
              <a:rPr sz="1000" b="0" i="0" lang="en-US">
                <a:solidFill>
                  <a:srgbClr val="B3AA9D"/>
                </a:solidFill>
                <a:latin typeface="Open Sans"/>
              </a:rPr>
              <a:t>photo → listing title + compliance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32500749600" y="1295997408000"/>
            <a:ext cx="3093671232000" cy="1839480192000"/>
          </a:xfrm>
          <a:prstGeom prst="rect">
            <a:avLst/>
          </a:prstGeom>
          <a:solidFill>
            <a:srgbClr val="171412"/>
          </a:solidFill>
          <a:ln w="12700">
            <a:solidFill>
              <a:srgbClr val="2C2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image12.p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0999" y="1481328"/>
            <a:ext cx="3200400" cy="1325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0999" y="2880360"/>
            <a:ext cx="3200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 lang="en-US">
                <a:solidFill>
                  <a:srgbClr val="E8A33D"/>
                </a:solidFill>
                <a:latin typeface="Open Sans"/>
              </a:rPr>
              <a:t>Catalog</a:t>
            </a:r>
          </a:p>
          <a:p>
            <a:pPr algn="l"/>
            <a:r>
              <a:rPr sz="1000" b="0" i="0" lang="en-US">
                <a:solidFill>
                  <a:srgbClr val="B3AA9D"/>
                </a:solidFill>
                <a:latin typeface="Open Sans"/>
              </a:rPr>
              <a:t>master product → marketplace payload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870048000" y="3344509440000"/>
            <a:ext cx="3093671232000" cy="1254191040000"/>
          </a:xfrm>
          <a:prstGeom prst="rect">
            <a:avLst/>
          </a:prstGeom>
          <a:solidFill>
            <a:srgbClr val="171412"/>
          </a:solidFill>
          <a:ln w="1270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image15.p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721608"/>
            <a:ext cx="3163824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4663440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 lang="en-US">
                <a:solidFill>
                  <a:srgbClr val="E8A33D"/>
                </a:solidFill>
                <a:latin typeface="Open Sans"/>
              </a:rPr>
              <a:t>WhatsApp CRM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956048"/>
            <a:ext cx="3200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 lang="en-US">
                <a:solidFill>
                  <a:srgbClr val="B3AA9D"/>
                </a:solidFill>
                <a:latin typeface="Open Sans"/>
              </a:rPr>
              <a:t>campaign send + consent gate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6185856000" y="3344509440000"/>
            <a:ext cx="3093671232000" cy="1254191040000"/>
          </a:xfrm>
          <a:prstGeom prst="rect">
            <a:avLst/>
          </a:prstGeom>
          <a:solidFill>
            <a:srgbClr val="171412"/>
          </a:solidFill>
          <a:ln w="1270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image11.p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968" y="3721608"/>
            <a:ext cx="3163824" cy="868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97679" y="4663440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 lang="en-US">
                <a:solidFill>
                  <a:srgbClr val="E8A33D"/>
                </a:solidFill>
                <a:latin typeface="Open Sans"/>
              </a:rPr>
              <a:t>What-If sim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4956048"/>
            <a:ext cx="3200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 lang="en-US">
                <a:solidFill>
                  <a:srgbClr val="B3AA9D"/>
                </a:solidFill>
                <a:latin typeface="Open Sans"/>
              </a:rPr>
              <a:t>profit / margin / payback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870048000" y="4807732320000"/>
            <a:ext cx="4682313216000" cy="1003352832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59870048000" y="4807732320000"/>
            <a:ext cx="66890188800" cy="10033528320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5321808"/>
            <a:ext cx="484632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 i="0" lang="en-US">
                <a:solidFill>
                  <a:srgbClr val="E8A33D"/>
                </a:solidFill>
                <a:latin typeface="Open Sans"/>
              </a:rPr>
              <a:t>TODAY</a:t>
            </a:r>
          </a:p>
          <a:p>
            <a:pPr algn="l"/>
            <a:r>
              <a:rPr sz="1250" b="0" i="0" lang="en-US">
                <a:solidFill>
                  <a:srgbClr val="1D1A17"/>
                </a:solidFill>
                <a:latin typeface="Open Sans"/>
              </a:rPr>
              <a:t>Prototype connects the merchant growth workflow.</a:t>
            </a:r>
          </a:p>
          <a:p>
            <a:pPr algn="l"/>
            <a:r>
              <a:rPr sz="1050" b="0" i="1" lang="en-US">
                <a:solidFill>
                  <a:srgbClr val="7D7469"/>
                </a:solidFill>
                <a:latin typeface="Open Sans"/>
              </a:rPr>
              <a:t>Verified sandbox + staged fallbacks, no production claims.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51215104000" y="4807732320000"/>
            <a:ext cx="5351215104000" cy="100335283200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351215104000" y="4807732320000"/>
            <a:ext cx="66890188800" cy="1003352832000"/>
          </a:xfrm>
          <a:prstGeom prst="rect">
            <a:avLst/>
          </a:prstGeom>
          <a:solidFill>
            <a:srgbClr val="2C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035040" y="5321808"/>
            <a:ext cx="5577840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 i="0" lang="en-US">
                <a:solidFill>
                  <a:srgbClr val="2C2822"/>
                </a:solidFill>
                <a:latin typeface="Open Sans"/>
              </a:rPr>
              <a:t>NEXT</a:t>
            </a:r>
          </a:p>
          <a:p>
            <a:pPr algn="l"/>
            <a:r>
              <a:rPr sz="1150" b="0" i="0" lang="en-US">
                <a:solidFill>
                  <a:srgbClr val="1D1A17"/>
                </a:solidFill>
                <a:latin typeface="Open Sans"/>
              </a:rPr>
              <a:t>Deeper marketplace integrations · billing/inventory · production onboarding · broader multilingual support · richer merchant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